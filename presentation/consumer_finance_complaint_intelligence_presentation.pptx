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Finance Complaint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92240" y="6446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Maik Hübner | Modul 1 - Datenanalyse mit Python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Consumer Finance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Complaint Intelligence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3232" y="2542032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5F1"/>
                </a:solidFill>
              </a:rPr>
              <a:t>Exploratory Data Analysis auf 10,27 Mio. CFPB-Verbraucherbeschwerden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312724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5E8"/>
                </a:solidFill>
              </a:rPr>
              <a:t>Datenbereinigung · Taxonomie-Harmonisierung · Quality Gates · Sensitivitätsanalyse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75320" y="1143000"/>
            <a:ext cx="3154680" cy="4114800"/>
          </a:xfrm>
          <a:prstGeom prst="roundRect">
            <a:avLst/>
          </a:prstGeom>
          <a:solidFill>
            <a:srgbClr val="214462">
              <a:alpha val="96000"/>
            </a:srgbClr>
          </a:solidFill>
          <a:ln w="12700">
            <a:solidFill>
              <a:srgbClr val="3D6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5727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Portfolio-Projekt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D9D9"/>
                </a:solidFill>
              </a:rPr>
              <a:t>2022-2025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41080" y="3383280"/>
            <a:ext cx="2423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AF3"/>
                </a:solidFill>
              </a:rPr>
              <a:t>Python · Polars · Pandas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AF3"/>
                </a:solidFill>
              </a:rPr>
              <a:t>SciPy · scikit-learn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EAF3"/>
                </a:solidFill>
              </a:rPr>
              <a:t>Matplotlib · Plotly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6016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Maik Hübner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60167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5"/>
                </a:solidFill>
              </a:rPr>
              <a:t>AI Engineering · Financial Services · Technical AI Consulting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Business-Frage und Analyseziel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Von öffentlichen Beschwerden zu einer kontrollierten Management-Sicht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5E8E"/>
                </a:solidFill>
              </a:rPr>
              <a:t>Ausgangslage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4944" y="1664208"/>
            <a:ext cx="5212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Beschwerdevolumen allein ist keine Qualitätskennzahl.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Historische CFPB-Taxonomieänderungen können Trends künstlich verzerren.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Aggregierte Portfolio-KPIs können von dominanten Segmenten geprägt werden.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298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7A7A"/>
                </a:solidFill>
              </a:rPr>
              <a:t>Ziel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5936" y="1664208"/>
            <a:ext cx="5074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Reproduzierbare Datenpipeline statt einmaliger Notebook-Analyse.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Bereinigung und Harmonisierung vor Interpretation.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Zeit-, Produkt-, Issue- und Response-Analyse mit Robustheitscheck.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Management- und Consulting-Aussagen inklusive Interpretationsgrenzen.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4315968"/>
            <a:ext cx="10698480" cy="1188720"/>
          </a:xfrm>
          <a:prstGeom prst="roundRect">
            <a:avLst/>
          </a:prstGeom>
          <a:solidFill>
            <a:srgbClr val="E8F0F6"/>
          </a:solidFill>
          <a:ln w="12700">
            <a:solidFill>
              <a:srgbClr val="C7D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3542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Leitfrage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4462272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Welche Beschwerde- und Prozessmuster sind belastbar erkennbar - und welche verändern sich, sobald Datenqualität, Taxonomie und Segmentmix kontrolliert werden?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Datenbasis und technische Architektur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Offizielle CFPB-Daten · Multi-Millionen-Zeilen · reproduzierbare Verarbeitung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73152" cy="1170432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4475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10.269.540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59536" y="195681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Beschwerden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29844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298448"/>
            <a:ext cx="73152" cy="1170432"/>
          </a:xfrm>
          <a:prstGeom prst="rect">
            <a:avLst/>
          </a:prstGeom>
          <a:solidFill>
            <a:srgbClr val="247A7A"/>
          </a:solidFill>
          <a:ln w="12700">
            <a:solidFill>
              <a:srgbClr val="24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4475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5.601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66160" y="195681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Unternehmen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29844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298448"/>
            <a:ext cx="73152" cy="1170432"/>
          </a:xfrm>
          <a:prstGeom prst="rect">
            <a:avLst/>
          </a:prstGeom>
          <a:solidFill>
            <a:srgbClr val="C56A2D"/>
          </a:solidFill>
          <a:ln w="12700">
            <a:solidFill>
              <a:srgbClr val="C56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44475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11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272784" y="195681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harmonisierte Produkte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29844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298448"/>
            <a:ext cx="73152" cy="1170432"/>
          </a:xfrm>
          <a:prstGeom prst="rect">
            <a:avLst/>
          </a:prstGeom>
          <a:solidFill>
            <a:srgbClr val="3A7D5D"/>
          </a:solidFill>
          <a:ln w="12700">
            <a:solidFill>
              <a:srgbClr val="3A7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9408" y="144475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2022-2025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979408" y="195681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vollständige Kalenderjahre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1508760" cy="768096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45643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CFPB Bulk Download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13432" y="3447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06040" y="3246120"/>
            <a:ext cx="1508760" cy="768096"/>
          </a:xfrm>
          <a:prstGeom prst="roundRect">
            <a:avLst/>
          </a:prstGeom>
          <a:solidFill>
            <a:srgbClr val="E9F5F3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345643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Polars Lazy Transform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87952" y="3447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26280" y="3246120"/>
            <a:ext cx="1508760" cy="768096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45643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Parquet Analytics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08192" y="3447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46520" y="3246120"/>
            <a:ext cx="1508760" cy="768096"/>
          </a:xfrm>
          <a:prstGeom prst="roundRect">
            <a:avLst/>
          </a:prstGeom>
          <a:solidFill>
            <a:srgbClr val="E9F5F3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45643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Quality Gates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3447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66760" y="3246120"/>
            <a:ext cx="1508760" cy="768096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345643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EDA + Sensitivität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948672" y="3447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195560" y="3246120"/>
            <a:ext cx="1325880" cy="768096"/>
          </a:xfrm>
          <a:prstGeom prst="roundRect">
            <a:avLst/>
          </a:prstGeom>
          <a:solidFill>
            <a:srgbClr val="E9F5F3"/>
          </a:solidFill>
          <a:ln w="12700">
            <a:solidFill>
              <a:srgbClr val="C6D7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8712" y="3456432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Reports + Dashboard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4590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Engineering-Prinzipien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" y="4956048"/>
            <a:ext cx="10515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Rohdaten bleiben unverändert.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SHA-256-Provenienz für den lokalen Snapshot.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Große CSV wird nicht vollständig im RAM materialisiert.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Analyse-Logik liegt testbar in src/ - nicht im Notebook.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Datenqualität, Bereinigung und Taxonomie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Interpretation erst nach kontrollierter Aufbereitung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188720"/>
          </a:xfrm>
          <a:prstGeom prst="rect">
            <a:avLst/>
          </a:prstGeom>
          <a:solidFill>
            <a:srgbClr val="C56A2D"/>
          </a:solidFill>
          <a:ln w="12700">
            <a:solidFill>
              <a:srgbClr val="C56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7218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6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fehlende Source-Issue-Werte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325880"/>
            <a:ext cx="73152" cy="1188720"/>
          </a:xfrm>
          <a:prstGeom prst="rect">
            <a:avLst/>
          </a:prstGeom>
          <a:solidFill>
            <a:srgbClr val="3A7D5D"/>
          </a:solidFill>
          <a:ln w="12700">
            <a:solidFill>
              <a:srgbClr val="3A7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47218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767328" y="19842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unbehandelte Missing-Issues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325880"/>
            <a:ext cx="73152" cy="1188720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47218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1.335.250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647688" y="19842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Produktharmonisierungen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0" y="132588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325880"/>
            <a:ext cx="73152" cy="1188720"/>
          </a:xfrm>
          <a:prstGeom prst="rect">
            <a:avLst/>
          </a:prstGeom>
          <a:solidFill>
            <a:srgbClr val="247A7A"/>
          </a:solidFill>
          <a:ln w="12700">
            <a:solidFill>
              <a:srgbClr val="247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8048" y="1472184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13,0 %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528048" y="1984248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des Analysebestands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Source-Treue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3273552"/>
            <a:ext cx="51206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Originalfelder product und issue bleiben erhalten.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Fehlendes issue bleibt im Source-Feld null.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Analytisch wird nur zusätzlich harmonized_issue = "Issue not provided" gesetzt.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7A7A"/>
                </a:solidFill>
              </a:rPr>
              <a:t>Taxonomie-Harmonisierung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91072" y="3273552"/>
            <a:ext cx="49834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Historische Kategorien werden analytisch vergleichbar gemacht.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taxonomy_version trennt alte und neue CFPB-Struktur.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F2937"/>
                </a:solidFill>
              </a:rPr>
              <a:t>Vollständiger Source-to-Analytical-Audit wird als CSV veröffentlicht.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777240" y="5266944"/>
            <a:ext cx="10469880" cy="640080"/>
          </a:xfrm>
          <a:prstGeom prst="roundRect">
            <a:avLst/>
          </a:prstGeom>
          <a:solidFill>
            <a:srgbClr val="EAF5EE"/>
          </a:solidFill>
          <a:ln w="12700">
            <a:solidFill>
              <a:srgbClr val="BCD9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440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D5D"/>
                </a:solidFill>
              </a:rPr>
              <a:t>Data Quality Gate: passed = true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9160" y="544068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35 automatisierte Tests · Warning-as-error · Ruff · CI auf Python 3.11 und 3.13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Beschwerdevolumen wächst stark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2022 bis 2025: +580,2 % im veröffentlichten CFPB-Portfolio</a:t>
            </a:r>
            <a:endParaRPr lang="en-US" sz="1150" dirty="0"/>
          </a:p>
        </p:txBody>
      </p:sp>
      <p:pic>
        <p:nvPicPr>
          <p:cNvPr id="4" name="Image 0" descr="/mnt/data/01_monthly_complaints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1812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55448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0" y="1554480"/>
            <a:ext cx="73152" cy="1170432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0808" y="17007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800.245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750808" y="2212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Beschwerden 2022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49640" y="288036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9640" y="2880360"/>
            <a:ext cx="73152" cy="1170432"/>
          </a:xfrm>
          <a:prstGeom prst="rect">
            <a:avLst/>
          </a:prstGeom>
          <a:solidFill>
            <a:srgbClr val="C56A2D"/>
          </a:solidFill>
          <a:ln w="12700">
            <a:solidFill>
              <a:srgbClr val="C56A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50808" y="302666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5.442.977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750808" y="35387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Beschwerden 2025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49640" y="420624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49640" y="4206240"/>
            <a:ext cx="73152" cy="1170432"/>
          </a:xfrm>
          <a:prstGeom prst="rect">
            <a:avLst/>
          </a:prstGeom>
          <a:solidFill>
            <a:srgbClr val="A44747"/>
          </a:solidFill>
          <a:ln w="12700">
            <a:solidFill>
              <a:srgbClr val="A447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435254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+580,2 %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750808" y="486460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Veränderung 2022→2025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5800" y="5925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Deskriptiver linearer Monatstrend: +10.511 Beschwerden/Monat · R² = 0,877 · keine Prognose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Hohe Konzentration auf Credit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85,9 % des Gesamtbestands entfallen auf eine harmonisierte Produktgruppe</a:t>
            </a:r>
            <a:endParaRPr lang="en-US" sz="1150" dirty="0"/>
          </a:p>
        </p:txBody>
      </p:sp>
      <p:pic>
        <p:nvPicPr>
          <p:cNvPr id="4" name="Image 0" descr="/mnt/data/02_product_mix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532120" cy="4663440"/>
          </a:xfrm>
          <a:prstGeom prst="rect">
            <a:avLst/>
          </a:prstGeom>
        </p:spPr>
      </p:pic>
      <p:pic>
        <p:nvPicPr>
          <p:cNvPr id="5" name="Image 1" descr="/mnt/data/04_issue_hotspots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234440"/>
            <a:ext cx="5532120" cy="4663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808" y="5879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E8E"/>
                </a:solidFill>
              </a:rPr>
              <a:t>Top-Produkt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874520" y="58795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Credit reporting or other personal consumer reports: 8.824.129 Beschwerden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327648" y="58795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6A2D"/>
                </a:solidFill>
              </a:rPr>
              <a:t>Top-Hotspot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79792" y="58795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Incorrect information on your report: 4.653.591 Beschwerden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Response Operations: Gesamtquote hoch, Segmente unterscheiden sich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Timely-Response-Rate als Screening-Signal - nicht als Unternehmensranking</a:t>
            </a:r>
            <a:endParaRPr lang="en-US" sz="1150" dirty="0"/>
          </a:p>
        </p:txBody>
      </p:sp>
      <p:pic>
        <p:nvPicPr>
          <p:cNvPr id="4" name="Image 0" descr="/mnt/data/03_timely_response_by_product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00100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69164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1691640"/>
            <a:ext cx="73152" cy="1143000"/>
          </a:xfrm>
          <a:prstGeom prst="rect">
            <a:avLst/>
          </a:prstGeom>
          <a:solidFill>
            <a:srgbClr val="3A7D5D"/>
          </a:solidFill>
          <a:ln w="12700">
            <a:solidFill>
              <a:srgbClr val="3A7D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79408" y="18379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99,6 %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979408" y="2350008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Portfolio-Durchschnitt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778240" y="306324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3063240"/>
            <a:ext cx="73152" cy="1143000"/>
          </a:xfrm>
          <a:prstGeom prst="rect">
            <a:avLst/>
          </a:prstGeom>
          <a:solidFill>
            <a:srgbClr val="A44747"/>
          </a:solidFill>
          <a:ln w="12700">
            <a:solidFill>
              <a:srgbClr val="A447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9408" y="3209544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84,8 %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979408" y="3721608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 Loan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59952" y="4572000"/>
            <a:ext cx="2542032" cy="1078992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0C4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88552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A2D"/>
                </a:solidFill>
              </a:rPr>
              <a:t>Wichtig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88552" y="50292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Ohne Kunden-/Exposure-Nenner keine faire Performance-Rangliste.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Sensitivitätsanalyse: Der Produktmix verändert die Geschichte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Robustheitscheck des dominanten Credit-Reporting-Segments</a:t>
            </a:r>
            <a:endParaRPr lang="en-US" sz="1150" dirty="0"/>
          </a:p>
        </p:txBody>
      </p:sp>
      <p:pic>
        <p:nvPicPr>
          <p:cNvPr id="4" name="Image 0" descr="/mnt/data/06_credit_reporting_sensitivity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70432"/>
            <a:ext cx="7726680" cy="4828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94192" y="1389888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94192" y="1389888"/>
            <a:ext cx="73152" cy="1115568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53619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75,3 → 88,4 %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595360" y="204825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Credit-Reporting-Anteil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94192" y="2706624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94192" y="2706624"/>
            <a:ext cx="73152" cy="1115568"/>
          </a:xfrm>
          <a:prstGeom prst="rect">
            <a:avLst/>
          </a:prstGeom>
          <a:solidFill>
            <a:srgbClr val="247A7A"/>
          </a:solidFill>
          <a:ln w="12700">
            <a:solidFill>
              <a:srgbClr val="247A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85292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+220,3 %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595360" y="336499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Wachstum ohne Credit Reporting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94192" y="4023360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94192" y="4023360"/>
            <a:ext cx="73152" cy="1115568"/>
          </a:xfrm>
          <a:prstGeom prst="rect">
            <a:avLst/>
          </a:prstGeom>
          <a:solidFill>
            <a:srgbClr val="C56A2D"/>
          </a:solidFill>
          <a:ln w="12700">
            <a:solidFill>
              <a:srgbClr val="C56A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4169664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91,2 %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595360" y="46817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Anteil an linearer Trendsteigung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5934456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Korrelation Beschwerden ↔ Narrative-Anteil: r = −0,891 gesamt vs. −0,227 ohne Credit Reporting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Management- und Consulting-Implikationen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Was sich aus der EDA verantwortungsvoll ableiten lässt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5E8E"/>
                </a:solidFill>
              </a:rPr>
              <a:t>Was die Daten zeigen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691640"/>
            <a:ext cx="53035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Beschwerdevolumen wächst stark - auch außerhalb von Credit Reporting.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Wenige Produkt-Issue-Kombinationen dominieren die öffentliche Beschwerdelandschaft.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Aggregierte Portfolio-KPIs reagieren empfindlich auf Segmentmix.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7A7A"/>
                </a:solidFill>
              </a:rPr>
              <a:t>Was als Nächstes sinnvoll wäre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1072" y="1691640"/>
            <a:ext cx="49834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Hotspots für Root-Cause-Analysen priorisieren.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Öffentliche Beschwerden mit internen Kunden-/Exposure-Daten verbinden.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Segmentierte KPIs statt isolierter Portfolio-Aggregate verwenden.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Consumer Narratives später mit NLP/GenAI untersuchen.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9808" y="4370832"/>
            <a:ext cx="10469880" cy="109728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CE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45902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Responsible Interpretation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45537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Beschwerdevolumen ≠ Qualität · Korrelation ≠ Kausalität · linearer Trend ≠ Forecast · Kompositionseffekt ≠ automatisch Simpson-Paradox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Fazit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EDA als reproduzierbarer Data-Intelligence-Workflow statt einmaliger Analyse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207008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636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10,27 Mio.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32688" y="20756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reale CFPB-Beschwerden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7952" y="141732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1417320"/>
            <a:ext cx="73152" cy="1207008"/>
          </a:xfrm>
          <a:prstGeom prst="rect">
            <a:avLst/>
          </a:prstGeom>
          <a:solidFill>
            <a:srgbClr val="3A7D5D"/>
          </a:solidFill>
          <a:ln w="12700">
            <a:solidFill>
              <a:srgbClr val="3A7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636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35/35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389120" y="20756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automatisierte Tests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44384" y="141732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1417320"/>
            <a:ext cx="73152" cy="1207008"/>
          </a:xfrm>
          <a:prstGeom prst="rect">
            <a:avLst/>
          </a:prstGeom>
          <a:solidFill>
            <a:srgbClr val="C56A2D"/>
          </a:solidFill>
          <a:ln w="12700">
            <a:solidFill>
              <a:srgbClr val="C56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1563624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6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845552" y="20756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Portfolio-Visualisierungen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Projektbeitrag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" y="3493008"/>
            <a:ext cx="5669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Große reale Finanzdaten effizient verarbeitet.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Datenqualität und Taxonomiestabilität vor Interpretation kontrolliert.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Statistische Ergebnisse durch Segment-Sensitivität hinterfragt.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Technische Analyse in eine Management-/Consulting-Sicht übersetzt.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03720" y="3182112"/>
            <a:ext cx="4160520" cy="2121408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34930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D9EA"/>
                </a:solidFill>
              </a:rPr>
              <a:t>Kernaussage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42048" y="3886200"/>
            <a:ext cx="349300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Datenqualität, Taxonomie und Segmentstruktur müssen gemeinsam betrachtet werden, bevor Portfolio-KPIs fachlich interpretiert werden.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8096" y="5916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GitHub: Maik-Huebner/consumer-finance-complaint-intelligence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Finance Complaint Intelligence Platform</dc:title>
  <dc:subject>Consumer Finance Complaint Intelligence Platform</dc:subject>
  <dc:creator>Maik Hübner</dc:creator>
  <cp:lastModifiedBy>Maik Hübner</cp:lastModifiedBy>
  <cp:revision>1</cp:revision>
  <dcterms:created xsi:type="dcterms:W3CDTF">2026-08-11T13:58:06Z</dcterms:created>
  <dcterms:modified xsi:type="dcterms:W3CDTF">2026-08-11T13:58:06Z</dcterms:modified>
</cp:coreProperties>
</file>