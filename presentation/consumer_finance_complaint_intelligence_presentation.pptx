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46520"/>
            <a:ext cx="5852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Consumer Finance Complaint Intelligence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92240" y="644652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Maik Hübner | Modul 1 - Datenanalyse mit Python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4A3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4A3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32688"/>
            <a:ext cx="6949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Finance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Complaint Intelligence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13232" y="2542032"/>
            <a:ext cx="6995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7E5F1"/>
                </a:solidFill>
              </a:rPr>
              <a:t>Exploratory Data Analysis auf 10,27 Mio. CFPB-Verbraucherbeschwerden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713232" y="3127248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D5E8"/>
                </a:solidFill>
              </a:rPr>
              <a:t>Datenbereinigung · Taxonomie-Harmonisierung · Quality Gates · Sensitivitätsanalyse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75320" y="1143000"/>
            <a:ext cx="3154680" cy="4114800"/>
          </a:xfrm>
          <a:prstGeom prst="roundRect">
            <a:avLst/>
          </a:prstGeom>
          <a:solidFill>
            <a:srgbClr val="214462">
              <a:alpha val="96000"/>
            </a:srgbClr>
          </a:solidFill>
          <a:ln w="12700">
            <a:solidFill>
              <a:srgbClr val="3D6B8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41080" y="1572768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Portfolio-Projekt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Modul 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732520" y="26974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7D9D9"/>
                </a:solidFill>
              </a:rPr>
              <a:t>2022-2025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641080" y="3383280"/>
            <a:ext cx="2423160" cy="1051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DEAF3"/>
                </a:solidFill>
              </a:rPr>
              <a:t>Python · Polars · Pandas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DEAF3"/>
                </a:solidFill>
              </a:rPr>
              <a:t>SciPy · scikit-learn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DEAF3"/>
                </a:solidFill>
              </a:rPr>
              <a:t>Matplotlib · Plotly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3232" y="60167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Maik Hübner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0" y="6016752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8E5"/>
                </a:solidFill>
              </a:rPr>
              <a:t>AI Engineering · Financial Services · Technical AI Consulting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Business-Frage und Analyseziel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850392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Von öffentlichen Beschwerden zu einer kontrollierten Management-Sicht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58368" y="129844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5E8E"/>
                </a:solidFill>
              </a:rPr>
              <a:t>Ausgangslage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94944" y="1664208"/>
            <a:ext cx="5212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Beschwerdevolumen allein ist keine Qualitätskennzahl.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Historische CFPB-Taxonomieänderungen können Trends künstlich verzerren.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Aggregierte Portfolio-KPIs können von dominanten Segmenten geprägt werden.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309360" y="12984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7A7A"/>
                </a:solidFill>
              </a:rPr>
              <a:t>Ziel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345936" y="1664208"/>
            <a:ext cx="507492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Reproduzierbare Datenpipeline statt einmaliger Notebook-Analyse.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Bereinigung und Harmonisierung vor Interpretation.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Zeit-, Produkt-, Issue- und Response-Analyse mit Robustheitscheck.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Management- und Consulting-Aussagen inklusive Interpretationsgrenzen.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13232" y="4315968"/>
            <a:ext cx="10698480" cy="1188720"/>
          </a:xfrm>
          <a:prstGeom prst="roundRect">
            <a:avLst/>
          </a:prstGeom>
          <a:solidFill>
            <a:srgbClr val="E8F0F6"/>
          </a:solidFill>
          <a:ln w="12700">
            <a:solidFill>
              <a:srgbClr val="C7D7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4535424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</a:rPr>
              <a:t>Leitfrage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48840" y="4462272"/>
            <a:ext cx="8778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</a:rPr>
              <a:t>Welche Beschwerde- und Prozessmuster sind belastbar erkennbar - und welche verändern sich, sobald Datenqualität, Taxonomie und Segmentmix kontrolliert werden?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4A3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Datenbasis und technische Architektur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850392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Offizielle CFPB-Daten · Multi-Millionen-Zeilen · reproduzierbare Verarbeitung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58368" y="1298448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298448"/>
            <a:ext cx="73152" cy="1170432"/>
          </a:xfrm>
          <a:prstGeom prst="rect">
            <a:avLst/>
          </a:prstGeom>
          <a:solidFill>
            <a:srgbClr val="285E8E"/>
          </a:solidFill>
          <a:ln w="12700">
            <a:solidFill>
              <a:srgbClr val="285E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444752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7"/>
                </a:solidFill>
              </a:rPr>
              <a:t>10.269.540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859536" y="1956816"/>
            <a:ext cx="2203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Beschwerden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64992" y="1298448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64992" y="1298448"/>
            <a:ext cx="73152" cy="1170432"/>
          </a:xfrm>
          <a:prstGeom prst="rect">
            <a:avLst/>
          </a:prstGeom>
          <a:solidFill>
            <a:srgbClr val="247A7A"/>
          </a:solidFill>
          <a:ln w="12700">
            <a:solidFill>
              <a:srgbClr val="247A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444752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7"/>
                </a:solidFill>
              </a:rPr>
              <a:t>5.601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3566160" y="1956816"/>
            <a:ext cx="2203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Unternehmen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71616" y="1298448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71616" y="1298448"/>
            <a:ext cx="73152" cy="1170432"/>
          </a:xfrm>
          <a:prstGeom prst="rect">
            <a:avLst/>
          </a:prstGeom>
          <a:solidFill>
            <a:srgbClr val="C56A2D"/>
          </a:solidFill>
          <a:ln w="12700">
            <a:solidFill>
              <a:srgbClr val="C56A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72784" y="1444752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7"/>
                </a:solidFill>
              </a:rPr>
              <a:t>11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6272784" y="1956816"/>
            <a:ext cx="2203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harmonisierte Produkte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78240" y="1298448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78240" y="1298448"/>
            <a:ext cx="73152" cy="1170432"/>
          </a:xfrm>
          <a:prstGeom prst="rect">
            <a:avLst/>
          </a:prstGeom>
          <a:solidFill>
            <a:srgbClr val="3A7D5D"/>
          </a:solidFill>
          <a:ln w="12700">
            <a:solidFill>
              <a:srgbClr val="3A7D5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9408" y="1444752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7"/>
                </a:solidFill>
              </a:rPr>
              <a:t>2022-2025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979408" y="1956816"/>
            <a:ext cx="2203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vollständige Kalenderjahre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" y="3246120"/>
            <a:ext cx="1508760" cy="768096"/>
          </a:xfrm>
          <a:prstGeom prst="roundRect">
            <a:avLst/>
          </a:prstGeom>
          <a:solidFill>
            <a:srgbClr val="EAF1F7"/>
          </a:solidFill>
          <a:ln w="12700">
            <a:solidFill>
              <a:srgbClr val="C6D7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3456432"/>
            <a:ext cx="1362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</a:rPr>
              <a:t>CFPB Bulk Download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13432" y="3447288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2606040" y="3246120"/>
            <a:ext cx="1508760" cy="768096"/>
          </a:xfrm>
          <a:prstGeom prst="roundRect">
            <a:avLst/>
          </a:prstGeom>
          <a:solidFill>
            <a:srgbClr val="E9F5F3"/>
          </a:solidFill>
          <a:ln w="12700">
            <a:solidFill>
              <a:srgbClr val="C6D7E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3456432"/>
            <a:ext cx="1362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</a:rPr>
              <a:t>Polars Lazy Transform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187952" y="3447288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526280" y="3246120"/>
            <a:ext cx="1508760" cy="768096"/>
          </a:xfrm>
          <a:prstGeom prst="roundRect">
            <a:avLst/>
          </a:prstGeom>
          <a:solidFill>
            <a:srgbClr val="EAF1F7"/>
          </a:solidFill>
          <a:ln w="12700">
            <a:solidFill>
              <a:srgbClr val="C6D7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99432" y="3456432"/>
            <a:ext cx="1362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</a:rPr>
              <a:t>Parquet Analytics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108192" y="3447288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6446520" y="3246120"/>
            <a:ext cx="1508760" cy="768096"/>
          </a:xfrm>
          <a:prstGeom prst="roundRect">
            <a:avLst/>
          </a:prstGeom>
          <a:solidFill>
            <a:srgbClr val="E9F5F3"/>
          </a:solidFill>
          <a:ln w="12700">
            <a:solidFill>
              <a:srgbClr val="C6D7E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19672" y="3456432"/>
            <a:ext cx="1362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</a:rPr>
              <a:t>Quality Gates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3447288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</a:rPr>
              <a:t>→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8366760" y="3246120"/>
            <a:ext cx="1508760" cy="768096"/>
          </a:xfrm>
          <a:prstGeom prst="roundRect">
            <a:avLst/>
          </a:prstGeom>
          <a:solidFill>
            <a:srgbClr val="EAF1F7"/>
          </a:solidFill>
          <a:ln w="12700">
            <a:solidFill>
              <a:srgbClr val="C6D7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39912" y="3456432"/>
            <a:ext cx="1362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</a:rPr>
              <a:t>EDA + Sensitivität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948672" y="3447288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</a:rPr>
              <a:t>→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0195560" y="3246120"/>
            <a:ext cx="1325880" cy="768096"/>
          </a:xfrm>
          <a:prstGeom prst="roundRect">
            <a:avLst/>
          </a:prstGeom>
          <a:solidFill>
            <a:srgbClr val="E9F5F3"/>
          </a:solidFill>
          <a:ln w="12700">
            <a:solidFill>
              <a:srgbClr val="C6D7E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268712" y="3456432"/>
            <a:ext cx="1179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</a:rPr>
              <a:t>Reports + Dashboard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45902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Engineering-Prinzipien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49808" y="4956048"/>
            <a:ext cx="105156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90500" indent="-190500"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</a:rPr>
              <a:t>Rohdaten bleiben unverändert.</a:t>
            </a:r>
            <a:endParaRPr lang="en-US" sz="1350" dirty="0"/>
          </a:p>
          <a:p>
            <a:pPr marL="190500" indent="-190500"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</a:rPr>
              <a:t>SHA-256-Provenienz für den lokalen Snapshot.</a:t>
            </a:r>
            <a:endParaRPr lang="en-US" sz="1350" dirty="0"/>
          </a:p>
          <a:p>
            <a:pPr marL="190500" indent="-190500"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</a:rPr>
              <a:t>Große CSV wird nicht vollständig im RAM materialisiert.</a:t>
            </a:r>
            <a:endParaRPr lang="en-US" sz="1350" dirty="0"/>
          </a:p>
          <a:p>
            <a:pPr marL="190500" indent="-190500"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</a:rPr>
              <a:t>Analyse-Logik liegt testbar in src/ - nicht im Notebook.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4A3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Datenqualität, Bereinigung und Taxonomie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850392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Interpretation erst nach kontrollierter Aufbereitung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25880"/>
            <a:ext cx="73152" cy="1188720"/>
          </a:xfrm>
          <a:prstGeom prst="rect">
            <a:avLst/>
          </a:prstGeom>
          <a:solidFill>
            <a:srgbClr val="C56A2D"/>
          </a:solidFill>
          <a:ln w="12700">
            <a:solidFill>
              <a:srgbClr val="C56A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472184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7"/>
                </a:solidFill>
              </a:rPr>
              <a:t>6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886968" y="1984248"/>
            <a:ext cx="2340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fehlende Source-Issue-Werte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566160" y="132588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66160" y="1325880"/>
            <a:ext cx="73152" cy="1188720"/>
          </a:xfrm>
          <a:prstGeom prst="rect">
            <a:avLst/>
          </a:prstGeom>
          <a:solidFill>
            <a:srgbClr val="3A7D5D"/>
          </a:solidFill>
          <a:ln w="12700">
            <a:solidFill>
              <a:srgbClr val="3A7D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67328" y="1472184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7"/>
                </a:solidFill>
              </a:rPr>
              <a:t>0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3767328" y="1984248"/>
            <a:ext cx="2340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unbehandelte Missing-Issues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46520" y="132588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46520" y="1325880"/>
            <a:ext cx="73152" cy="1188720"/>
          </a:xfrm>
          <a:prstGeom prst="rect">
            <a:avLst/>
          </a:prstGeom>
          <a:solidFill>
            <a:srgbClr val="285E8E"/>
          </a:solidFill>
          <a:ln w="12700">
            <a:solidFill>
              <a:srgbClr val="285E8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47688" y="1472184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7"/>
                </a:solidFill>
              </a:rPr>
              <a:t>1.335.250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6647688" y="1984248"/>
            <a:ext cx="2340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Produktharmonisierungen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326880" y="1325880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26880" y="1325880"/>
            <a:ext cx="73152" cy="1188720"/>
          </a:xfrm>
          <a:prstGeom prst="rect">
            <a:avLst/>
          </a:prstGeom>
          <a:solidFill>
            <a:srgbClr val="247A7A"/>
          </a:solidFill>
          <a:ln w="12700">
            <a:solidFill>
              <a:srgbClr val="247A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28048" y="1472184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7"/>
                </a:solidFill>
              </a:rPr>
              <a:t>13,0 %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9528048" y="1984248"/>
            <a:ext cx="1746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des Analysebestands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1520" y="29260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Source-Treue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3273552"/>
            <a:ext cx="512064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90500" indent="-190500">
              <a:buSzPct val="100000"/>
              <a:buChar char="•"/>
            </a:pPr>
            <a:r>
              <a:rPr lang="en-US" sz="1420" dirty="0">
                <a:solidFill>
                  <a:srgbClr val="1F2937"/>
                </a:solidFill>
              </a:rPr>
              <a:t>Originalfelder product und issue bleiben erhalten.</a:t>
            </a:r>
            <a:endParaRPr lang="en-US" sz="1420" dirty="0"/>
          </a:p>
          <a:p>
            <a:pPr marL="190500" indent="-190500">
              <a:buSzPct val="100000"/>
              <a:buChar char="•"/>
            </a:pPr>
            <a:r>
              <a:rPr lang="en-US" sz="1420" dirty="0">
                <a:solidFill>
                  <a:srgbClr val="1F2937"/>
                </a:solidFill>
              </a:rPr>
              <a:t>Fehlendes issue bleibt im Source-Feld null.</a:t>
            </a:r>
            <a:endParaRPr lang="en-US" sz="1420" dirty="0"/>
          </a:p>
          <a:p>
            <a:pPr marL="190500" indent="-190500">
              <a:buSzPct val="100000"/>
              <a:buChar char="•"/>
            </a:pPr>
            <a:r>
              <a:rPr lang="en-US" sz="1420" dirty="0">
                <a:solidFill>
                  <a:srgbClr val="1F2937"/>
                </a:solidFill>
              </a:rPr>
              <a:t>Analytisch wird nur zusätzlich harmonized_issue = "Issue not provided" gesetzt.</a:t>
            </a:r>
            <a:endParaRPr lang="en-US" sz="1420" dirty="0"/>
          </a:p>
        </p:txBody>
      </p:sp>
      <p:sp>
        <p:nvSpPr>
          <p:cNvPr id="22" name="Text 20"/>
          <p:cNvSpPr/>
          <p:nvPr/>
        </p:nvSpPr>
        <p:spPr>
          <a:xfrm>
            <a:off x="6263640" y="292608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7A7A"/>
                </a:solidFill>
              </a:rPr>
              <a:t>Taxonomie-Harmonisierung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291072" y="3273552"/>
            <a:ext cx="498348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90500" indent="-190500">
              <a:buSzPct val="100000"/>
              <a:buChar char="•"/>
            </a:pPr>
            <a:r>
              <a:rPr lang="en-US" sz="1420" dirty="0">
                <a:solidFill>
                  <a:srgbClr val="1F2937"/>
                </a:solidFill>
              </a:rPr>
              <a:t>Historische Kategorien werden analytisch vergleichbar gemacht.</a:t>
            </a:r>
            <a:endParaRPr lang="en-US" sz="1420" dirty="0"/>
          </a:p>
          <a:p>
            <a:pPr marL="190500" indent="-190500">
              <a:buSzPct val="100000"/>
              <a:buChar char="•"/>
            </a:pPr>
            <a:r>
              <a:rPr lang="en-US" sz="1420" dirty="0">
                <a:solidFill>
                  <a:srgbClr val="1F2937"/>
                </a:solidFill>
              </a:rPr>
              <a:t>taxonomy_version trennt alte und neue CFPB-Struktur.</a:t>
            </a:r>
            <a:endParaRPr lang="en-US" sz="1420" dirty="0"/>
          </a:p>
          <a:p>
            <a:pPr marL="190500" indent="-190500">
              <a:buSzPct val="100000"/>
              <a:buChar char="•"/>
            </a:pPr>
            <a:r>
              <a:rPr lang="en-US" sz="1420" dirty="0">
                <a:solidFill>
                  <a:srgbClr val="1F2937"/>
                </a:solidFill>
              </a:rPr>
              <a:t>Vollständiger Source-to-Analytical-Audit wird als CSV veröffentlicht.</a:t>
            </a:r>
            <a:endParaRPr lang="en-US" sz="1420" dirty="0"/>
          </a:p>
        </p:txBody>
      </p:sp>
      <p:sp>
        <p:nvSpPr>
          <p:cNvPr id="24" name="Shape 22"/>
          <p:cNvSpPr/>
          <p:nvPr/>
        </p:nvSpPr>
        <p:spPr>
          <a:xfrm>
            <a:off x="777240" y="5266944"/>
            <a:ext cx="10469880" cy="640080"/>
          </a:xfrm>
          <a:prstGeom prst="roundRect">
            <a:avLst/>
          </a:prstGeom>
          <a:solidFill>
            <a:srgbClr val="EAF5EE"/>
          </a:solidFill>
          <a:ln w="12700">
            <a:solidFill>
              <a:srgbClr val="BCD9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51560" y="54406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7D5D"/>
                </a:solidFill>
              </a:rPr>
              <a:t>Data Quality Gate: passed = true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709160" y="544068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</a:rPr>
              <a:t>24 automatisierte Tests · Warning-as-error · Ruff · CI auf Python 3.11 und 3.13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4A3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Beschwerdevolumen wächst stark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850392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2022 bis 2025: +580,2 % im veröffentlichten CFPB-Portfolio</a:t>
            </a:r>
            <a:endParaRPr lang="en-US" sz="1150" dirty="0"/>
          </a:p>
        </p:txBody>
      </p:sp>
      <p:pic>
        <p:nvPicPr>
          <p:cNvPr id="4" name="Image 0" descr="/mnt/data/01_monthly_complaints(1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8181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549640" y="1554480"/>
            <a:ext cx="274320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49640" y="1554480"/>
            <a:ext cx="73152" cy="1170432"/>
          </a:xfrm>
          <a:prstGeom prst="rect">
            <a:avLst/>
          </a:prstGeom>
          <a:solidFill>
            <a:srgbClr val="285E8E"/>
          </a:solidFill>
          <a:ln w="12700">
            <a:solidFill>
              <a:srgbClr val="285E8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50808" y="1700784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7"/>
                </a:solidFill>
              </a:rPr>
              <a:t>800.245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8750808" y="2212848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Beschwerden 2022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49640" y="2880360"/>
            <a:ext cx="274320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49640" y="2880360"/>
            <a:ext cx="73152" cy="1170432"/>
          </a:xfrm>
          <a:prstGeom prst="rect">
            <a:avLst/>
          </a:prstGeom>
          <a:solidFill>
            <a:srgbClr val="C56A2D"/>
          </a:solidFill>
          <a:ln w="12700">
            <a:solidFill>
              <a:srgbClr val="C56A2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750808" y="3026664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7"/>
                </a:solidFill>
              </a:rPr>
              <a:t>5.442.977</a:t>
            </a:r>
            <a:endParaRPr lang="en-US" sz="2300" dirty="0"/>
          </a:p>
        </p:txBody>
      </p:sp>
      <p:sp>
        <p:nvSpPr>
          <p:cNvPr id="12" name="Text 9"/>
          <p:cNvSpPr/>
          <p:nvPr/>
        </p:nvSpPr>
        <p:spPr>
          <a:xfrm>
            <a:off x="8750808" y="3538728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Beschwerden 2025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549640" y="4206240"/>
            <a:ext cx="274320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549640" y="4206240"/>
            <a:ext cx="73152" cy="1170432"/>
          </a:xfrm>
          <a:prstGeom prst="rect">
            <a:avLst/>
          </a:prstGeom>
          <a:solidFill>
            <a:srgbClr val="A44747"/>
          </a:solidFill>
          <a:ln w="12700">
            <a:solidFill>
              <a:srgbClr val="A4474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50808" y="4352544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7"/>
                </a:solidFill>
              </a:rPr>
              <a:t>+580,2 %</a:t>
            </a:r>
            <a:endParaRPr lang="en-US" sz="2300" dirty="0"/>
          </a:p>
        </p:txBody>
      </p:sp>
      <p:sp>
        <p:nvSpPr>
          <p:cNvPr id="16" name="Text 13"/>
          <p:cNvSpPr/>
          <p:nvPr/>
        </p:nvSpPr>
        <p:spPr>
          <a:xfrm>
            <a:off x="8750808" y="4864608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Veränderung 2022→2025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85800" y="59253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Deskriptiver linearer Monatstrend: +10.511 Beschwerden/Monat · R² = 0,877 · keine Prognose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4A3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Hohe Konzentration auf Credit Reporting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850392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85,9 % des Gesamtbestands entfallen auf eine harmonisierte Produktgruppe</a:t>
            </a:r>
            <a:endParaRPr lang="en-US" sz="1150" dirty="0"/>
          </a:p>
        </p:txBody>
      </p:sp>
      <p:pic>
        <p:nvPicPr>
          <p:cNvPr id="4" name="Image 0" descr="/mnt/data/02_product_mix(1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5532120" cy="4663440"/>
          </a:xfrm>
          <a:prstGeom prst="rect">
            <a:avLst/>
          </a:prstGeom>
        </p:spPr>
      </p:pic>
      <p:pic>
        <p:nvPicPr>
          <p:cNvPr id="5" name="Image 1" descr="/mnt/data/04_issue_hotspots(1)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234440"/>
            <a:ext cx="5532120" cy="46634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49808" y="587959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5E8E"/>
                </a:solidFill>
              </a:rPr>
              <a:t>Top-Produkt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1874520" y="587959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Credit reporting or other personal consumer reports: 8.824.129 Beschwerden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6327648" y="587959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6A2D"/>
                </a:solidFill>
              </a:rPr>
              <a:t>Top-Hotspot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479792" y="5879592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Incorrect information on your report: 4.653.591 Beschwerden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4A3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6. Response Operations: Gesamtquote hoch, Segmente unterscheiden sich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850392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Timely-Response-Rate als Screening-Signal - nicht als Unternehmensranking</a:t>
            </a:r>
            <a:endParaRPr lang="en-US" sz="1150" dirty="0"/>
          </a:p>
        </p:txBody>
      </p:sp>
      <p:pic>
        <p:nvPicPr>
          <p:cNvPr id="4" name="Image 0" descr="/mnt/data/03_timely_response_by_product(1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800100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778240" y="1691640"/>
            <a:ext cx="24231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1691640"/>
            <a:ext cx="73152" cy="1143000"/>
          </a:xfrm>
          <a:prstGeom prst="rect">
            <a:avLst/>
          </a:prstGeom>
          <a:solidFill>
            <a:srgbClr val="3A7D5D"/>
          </a:solidFill>
          <a:ln w="12700">
            <a:solidFill>
              <a:srgbClr val="3A7D5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79408" y="1837944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7"/>
                </a:solidFill>
              </a:rPr>
              <a:t>99,6 %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8979408" y="2350008"/>
            <a:ext cx="2112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Portfolio-Durchschnitt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778240" y="3063240"/>
            <a:ext cx="24231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3063240"/>
            <a:ext cx="73152" cy="1143000"/>
          </a:xfrm>
          <a:prstGeom prst="rect">
            <a:avLst/>
          </a:prstGeom>
          <a:solidFill>
            <a:srgbClr val="A44747"/>
          </a:solidFill>
          <a:ln w="12700">
            <a:solidFill>
              <a:srgbClr val="A4474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79408" y="3209544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7"/>
                </a:solidFill>
              </a:rPr>
              <a:t>84,8 %</a:t>
            </a:r>
            <a:endParaRPr lang="en-US" sz="2300" dirty="0"/>
          </a:p>
        </p:txBody>
      </p:sp>
      <p:sp>
        <p:nvSpPr>
          <p:cNvPr id="12" name="Text 9"/>
          <p:cNvSpPr/>
          <p:nvPr/>
        </p:nvSpPr>
        <p:spPr>
          <a:xfrm>
            <a:off x="8979408" y="3721608"/>
            <a:ext cx="2112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Student Loan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759952" y="4572000"/>
            <a:ext cx="2542032" cy="1078992"/>
          </a:xfrm>
          <a:prstGeom prst="roundRect">
            <a:avLst/>
          </a:prstGeom>
          <a:solidFill>
            <a:srgbClr val="FFF3EA"/>
          </a:solidFill>
          <a:ln w="12700">
            <a:solidFill>
              <a:srgbClr val="F0C49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88552" y="47731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6A2D"/>
                </a:solidFill>
              </a:rPr>
              <a:t>Wichtig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988552" y="5029200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Ohne Kunden-/Exposure-Nenner keine faire Performance-Rangliste.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4A3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7. Sensitivitätsanalyse: Der Produktmix verändert die Geschichte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850392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Robustheitscheck des dominanten Credit-Reporting-Segments</a:t>
            </a:r>
            <a:endParaRPr lang="en-US" sz="1150" dirty="0"/>
          </a:p>
        </p:txBody>
      </p:sp>
      <p:pic>
        <p:nvPicPr>
          <p:cNvPr id="4" name="Image 0" descr="/mnt/data/06_credit_reporting_sensitivity(1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1170432"/>
            <a:ext cx="7726680" cy="48280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394192" y="1389888"/>
            <a:ext cx="292608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394192" y="1389888"/>
            <a:ext cx="73152" cy="1115568"/>
          </a:xfrm>
          <a:prstGeom prst="rect">
            <a:avLst/>
          </a:prstGeom>
          <a:solidFill>
            <a:srgbClr val="285E8E"/>
          </a:solidFill>
          <a:ln w="12700">
            <a:solidFill>
              <a:srgbClr val="285E8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95360" y="1536192"/>
            <a:ext cx="2615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7"/>
                </a:solidFill>
              </a:rPr>
              <a:t>75,3 → 88,4 %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8595360" y="2048256"/>
            <a:ext cx="2615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Credit-Reporting-Anteil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394192" y="2706624"/>
            <a:ext cx="292608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394192" y="2706624"/>
            <a:ext cx="73152" cy="1115568"/>
          </a:xfrm>
          <a:prstGeom prst="rect">
            <a:avLst/>
          </a:prstGeom>
          <a:solidFill>
            <a:srgbClr val="247A7A"/>
          </a:solidFill>
          <a:ln w="12700">
            <a:solidFill>
              <a:srgbClr val="247A7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0" y="2852928"/>
            <a:ext cx="2615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7"/>
                </a:solidFill>
              </a:rPr>
              <a:t>+220,3 %</a:t>
            </a:r>
            <a:endParaRPr lang="en-US" sz="2300" dirty="0"/>
          </a:p>
        </p:txBody>
      </p:sp>
      <p:sp>
        <p:nvSpPr>
          <p:cNvPr id="12" name="Text 9"/>
          <p:cNvSpPr/>
          <p:nvPr/>
        </p:nvSpPr>
        <p:spPr>
          <a:xfrm>
            <a:off x="8595360" y="3364992"/>
            <a:ext cx="2615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Wachstum ohne Credit Reporting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394192" y="4023360"/>
            <a:ext cx="292608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94192" y="4023360"/>
            <a:ext cx="73152" cy="1115568"/>
          </a:xfrm>
          <a:prstGeom prst="rect">
            <a:avLst/>
          </a:prstGeom>
          <a:solidFill>
            <a:srgbClr val="C56A2D"/>
          </a:solidFill>
          <a:ln w="12700">
            <a:solidFill>
              <a:srgbClr val="C56A2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595360" y="4169664"/>
            <a:ext cx="2615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7"/>
                </a:solidFill>
              </a:rPr>
              <a:t>91,2 %</a:t>
            </a:r>
            <a:endParaRPr lang="en-US" sz="2300" dirty="0"/>
          </a:p>
        </p:txBody>
      </p:sp>
      <p:sp>
        <p:nvSpPr>
          <p:cNvPr id="16" name="Text 13"/>
          <p:cNvSpPr/>
          <p:nvPr/>
        </p:nvSpPr>
        <p:spPr>
          <a:xfrm>
            <a:off x="8595360" y="4681728"/>
            <a:ext cx="2615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Anteil an linearer Trendsteigung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31520" y="5934456"/>
            <a:ext cx="10561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64748B"/>
                </a:solidFill>
              </a:rPr>
              <a:t>Korrelation Beschwerden ↔ Narrative-Anteil: r = −0,891 gesamt vs. −0,227 ohne Credit Reporting</a:t>
            </a:r>
            <a:endParaRPr lang="en-US" sz="11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4A3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8. Management- und Consulting-Implikationen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850392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Was sich aus der EDA verantwortungsvoll ableiten lässt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5E8E"/>
                </a:solidFill>
              </a:rPr>
              <a:t>Was die Daten zeigen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49808" y="1691640"/>
            <a:ext cx="5303520" cy="2148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90500" indent="-190500"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</a:rPr>
              <a:t>Beschwerdevolumen wächst stark - auch außerhalb von Credit Reporting.</a:t>
            </a:r>
            <a:endParaRPr lang="en-US" sz="1450" dirty="0"/>
          </a:p>
          <a:p>
            <a:pPr marL="190500" indent="-190500"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</a:rPr>
              <a:t>Wenige Produkt-Issue-Kombinationen dominieren die öffentliche Beschwerdelandschaft.</a:t>
            </a:r>
            <a:endParaRPr lang="en-US" sz="1450" dirty="0"/>
          </a:p>
          <a:p>
            <a:pPr marL="190500" indent="-190500"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</a:rPr>
              <a:t>Aggregierte Portfolio-KPIs reagieren empfindlich auf Segmentmix.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63640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7A7A"/>
                </a:solidFill>
              </a:rPr>
              <a:t>Was als Nächstes sinnvoll wäre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91072" y="1691640"/>
            <a:ext cx="4983480" cy="2331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90500" indent="-190500"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</a:rPr>
              <a:t>Hotspots für Root-Cause-Analysen priorisieren.</a:t>
            </a:r>
            <a:endParaRPr lang="en-US" sz="1450" dirty="0"/>
          </a:p>
          <a:p>
            <a:pPr marL="190500" indent="-190500"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</a:rPr>
              <a:t>Öffentliche Beschwerden mit internen Kunden-/Exposure-Daten verbinden.</a:t>
            </a:r>
            <a:endParaRPr lang="en-US" sz="1450" dirty="0"/>
          </a:p>
          <a:p>
            <a:pPr marL="190500" indent="-190500"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</a:rPr>
              <a:t>Segmentierte KPIs statt isolierter Portfolio-Aggregate verwenden.</a:t>
            </a:r>
            <a:endParaRPr lang="en-US" sz="1450" dirty="0"/>
          </a:p>
          <a:p>
            <a:pPr marL="190500" indent="-190500"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</a:rPr>
              <a:t>Consumer Narratives später mit NLP/GenAI untersuchen.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49808" y="4370832"/>
            <a:ext cx="10469880" cy="1097280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CEDA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45902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</a:rPr>
              <a:t>Responsible Interpretation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063240" y="4553712"/>
            <a:ext cx="7726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</a:rPr>
              <a:t>Beschwerdevolumen ≠ Qualität · Korrelation ≠ Kausalität · linearer Trend ≠ Forecast · Kompositionseffekt ≠ automatisch Simpson-Paradox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4A3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9. Fazit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850392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EDA als reproduzierbarer Data-Intelligence-Workflow statt einmaliger Analyse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324612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17320"/>
            <a:ext cx="73152" cy="1207008"/>
          </a:xfrm>
          <a:prstGeom prst="rect">
            <a:avLst/>
          </a:prstGeom>
          <a:solidFill>
            <a:srgbClr val="285E8E"/>
          </a:solidFill>
          <a:ln w="12700">
            <a:solidFill>
              <a:srgbClr val="285E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563624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7"/>
                </a:solidFill>
              </a:rPr>
              <a:t>10,27 Mio.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932688" y="2075688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reale CFPB-Beschwerden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187952" y="1417320"/>
            <a:ext cx="324612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87952" y="1417320"/>
            <a:ext cx="73152" cy="1207008"/>
          </a:xfrm>
          <a:prstGeom prst="rect">
            <a:avLst/>
          </a:prstGeom>
          <a:solidFill>
            <a:srgbClr val="3A7D5D"/>
          </a:solidFill>
          <a:ln w="12700">
            <a:solidFill>
              <a:srgbClr val="3A7D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1563624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7"/>
                </a:solidFill>
              </a:rPr>
              <a:t>24/24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4389120" y="2075688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automatisierte Tests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644384" y="1417320"/>
            <a:ext cx="324612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44384" y="1417320"/>
            <a:ext cx="73152" cy="1207008"/>
          </a:xfrm>
          <a:prstGeom prst="rect">
            <a:avLst/>
          </a:prstGeom>
          <a:solidFill>
            <a:srgbClr val="C56A2D"/>
          </a:solidFill>
          <a:ln w="12700">
            <a:solidFill>
              <a:srgbClr val="C56A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45552" y="1563624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7"/>
                </a:solidFill>
              </a:rPr>
              <a:t>6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7845552" y="2075688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Portfolio-Visualisierungen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49808" y="31272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Projektbeitrag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68096" y="3493008"/>
            <a:ext cx="566928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Große reale Finanzdaten effizient verarbeitet.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Datenqualität und Taxonomiestabilität vor Interpretation kontrolliert.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Statistische Ergebnisse durch Segment-Sensitivität hinterfragt.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Technische Analyse in eine Management-/Consulting-Sicht übersetzt.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903720" y="3182112"/>
            <a:ext cx="4160520" cy="2121408"/>
          </a:xfrm>
          <a:prstGeom prst="round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42048" y="349300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D9EA"/>
                </a:solidFill>
              </a:rPr>
              <a:t>Kernaussage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242048" y="3886200"/>
            <a:ext cx="3493008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Datenqualität, Taxonomie und Segmentstruktur müssen gemeinsam betrachtet werden, bevor Portfolio-KPIs fachlich interpretiert werden.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68096" y="591616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</a:rPr>
              <a:t>GitHub: Maik-Huebner/consumer-finance-complaint-intelligence</a:t>
            </a:r>
            <a:endParaRPr lang="en-US" sz="10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4A3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Portfolio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Consumer Finance Complaint Intelligence Platform</dc:title>
  <dc:subject>Consumer Finance Complaint Intelligence Platform</dc:subject>
  <dc:creator>Maik Hübner</dc:creator>
  <cp:lastModifiedBy>Maik Hübner</cp:lastModifiedBy>
  <cp:revision>1</cp:revision>
  <dcterms:created xsi:type="dcterms:W3CDTF">2026-08-11T13:58:06Z</dcterms:created>
  <dcterms:modified xsi:type="dcterms:W3CDTF">2026-08-11T13:58:06Z</dcterms:modified>
</cp:coreProperties>
</file>